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</p:sldMasterIdLst>
  <p:notesMasterIdLst>
    <p:notesMasterId r:id="rId12"/>
  </p:notesMasterIdLst>
  <p:sldIdLst>
    <p:sldId id="265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19FD27C-7E6F-4534-A977-A48A7436069D}">
          <p14:sldIdLst/>
        </p14:section>
        <p14:section name="Untitled Section" id="{80F25966-42AF-4873-892B-AA5AB9526F5D}">
          <p14:sldIdLst>
            <p14:sldId id="265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3E37C8-EE16-4BA4-8347-E31755361BC2}" v="8" dt="2026-07-24T04:05:20.7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hilaparla@outlook.com" userId="842c385e226dec0c" providerId="LiveId" clId="{D7837BB3-8774-4BB9-93E7-12A32861A120}"/>
    <pc:docChg chg="undo custSel addSld delSld modSld addSection modSection">
      <pc:chgData name="akhilaparla@outlook.com" userId="842c385e226dec0c" providerId="LiveId" clId="{D7837BB3-8774-4BB9-93E7-12A32861A120}" dt="2026-07-24T05:53:35.395" v="697" actId="113"/>
      <pc:docMkLst>
        <pc:docMk/>
      </pc:docMkLst>
      <pc:sldChg chg="delSp modSp del mod">
        <pc:chgData name="akhilaparla@outlook.com" userId="842c385e226dec0c" providerId="LiveId" clId="{D7837BB3-8774-4BB9-93E7-12A32861A120}" dt="2026-07-23T17:20:44.140" v="499" actId="47"/>
        <pc:sldMkLst>
          <pc:docMk/>
          <pc:sldMk cId="0" sldId="256"/>
        </pc:sldMkLst>
        <pc:spChg chg="mod">
          <ac:chgData name="akhilaparla@outlook.com" userId="842c385e226dec0c" providerId="LiveId" clId="{D7837BB3-8774-4BB9-93E7-12A32861A120}" dt="2026-07-23T17:12:15.143" v="17" actId="14100"/>
          <ac:spMkLst>
            <pc:docMk/>
            <pc:sldMk cId="0" sldId="256"/>
            <ac:spMk id="8" creationId="{00000000-0000-0000-0000-000000000000}"/>
          </ac:spMkLst>
        </pc:spChg>
        <pc:spChg chg="mod">
          <ac:chgData name="akhilaparla@outlook.com" userId="842c385e226dec0c" providerId="LiveId" clId="{D7837BB3-8774-4BB9-93E7-12A32861A120}" dt="2026-07-23T17:12:08.419" v="16" actId="14100"/>
          <ac:spMkLst>
            <pc:docMk/>
            <pc:sldMk cId="0" sldId="256"/>
            <ac:spMk id="9" creationId="{00000000-0000-0000-0000-000000000000}"/>
          </ac:spMkLst>
        </pc:spChg>
        <pc:spChg chg="mod">
          <ac:chgData name="akhilaparla@outlook.com" userId="842c385e226dec0c" providerId="LiveId" clId="{D7837BB3-8774-4BB9-93E7-12A32861A120}" dt="2026-07-23T17:12:30.382" v="19" actId="14100"/>
          <ac:spMkLst>
            <pc:docMk/>
            <pc:sldMk cId="0" sldId="256"/>
            <ac:spMk id="10" creationId="{00000000-0000-0000-0000-000000000000}"/>
          </ac:spMkLst>
        </pc:spChg>
        <pc:spChg chg="mod">
          <ac:chgData name="akhilaparla@outlook.com" userId="842c385e226dec0c" providerId="LiveId" clId="{D7837BB3-8774-4BB9-93E7-12A32861A120}" dt="2026-07-23T17:12:36.712" v="20" actId="1076"/>
          <ac:spMkLst>
            <pc:docMk/>
            <pc:sldMk cId="0" sldId="256"/>
            <ac:spMk id="11" creationId="{00000000-0000-0000-0000-000000000000}"/>
          </ac:spMkLst>
        </pc:spChg>
        <pc:spChg chg="mod">
          <ac:chgData name="akhilaparla@outlook.com" userId="842c385e226dec0c" providerId="LiveId" clId="{D7837BB3-8774-4BB9-93E7-12A32861A120}" dt="2026-07-23T17:12:49.793" v="22" actId="1076"/>
          <ac:spMkLst>
            <pc:docMk/>
            <pc:sldMk cId="0" sldId="256"/>
            <ac:spMk id="12" creationId="{00000000-0000-0000-0000-000000000000}"/>
          </ac:spMkLst>
        </pc:spChg>
        <pc:spChg chg="mod">
          <ac:chgData name="akhilaparla@outlook.com" userId="842c385e226dec0c" providerId="LiveId" clId="{D7837BB3-8774-4BB9-93E7-12A32861A120}" dt="2026-07-23T17:13:49.501" v="25" actId="1076"/>
          <ac:spMkLst>
            <pc:docMk/>
            <pc:sldMk cId="0" sldId="256"/>
            <ac:spMk id="13" creationId="{00000000-0000-0000-0000-000000000000}"/>
          </ac:spMkLst>
        </pc:spChg>
        <pc:spChg chg="mod">
          <ac:chgData name="akhilaparla@outlook.com" userId="842c385e226dec0c" providerId="LiveId" clId="{D7837BB3-8774-4BB9-93E7-12A32861A120}" dt="2026-07-23T17:13:16.263" v="23" actId="1076"/>
          <ac:spMkLst>
            <pc:docMk/>
            <pc:sldMk cId="0" sldId="256"/>
            <ac:spMk id="14" creationId="{00000000-0000-0000-0000-000000000000}"/>
          </ac:spMkLst>
        </pc:spChg>
        <pc:spChg chg="del">
          <ac:chgData name="akhilaparla@outlook.com" userId="842c385e226dec0c" providerId="LiveId" clId="{D7837BB3-8774-4BB9-93E7-12A32861A120}" dt="2026-07-23T17:13:57.457" v="26" actId="478"/>
          <ac:spMkLst>
            <pc:docMk/>
            <pc:sldMk cId="0" sldId="256"/>
            <ac:spMk id="15" creationId="{00000000-0000-0000-0000-000000000000}"/>
          </ac:spMkLst>
        </pc:spChg>
      </pc:sldChg>
      <pc:sldChg chg="addSp delSp modSp add mod setBg">
        <pc:chgData name="akhilaparla@outlook.com" userId="842c385e226dec0c" providerId="LiveId" clId="{D7837BB3-8774-4BB9-93E7-12A32861A120}" dt="2026-07-24T05:53:35.395" v="697" actId="113"/>
        <pc:sldMkLst>
          <pc:docMk/>
          <pc:sldMk cId="746304241" sldId="265"/>
        </pc:sldMkLst>
        <pc:spChg chg="mod">
          <ac:chgData name="akhilaparla@outlook.com" userId="842c385e226dec0c" providerId="LiveId" clId="{D7837BB3-8774-4BB9-93E7-12A32861A120}" dt="2026-07-23T17:17:36.716" v="41" actId="1076"/>
          <ac:spMkLst>
            <pc:docMk/>
            <pc:sldMk cId="746304241" sldId="265"/>
            <ac:spMk id="8" creationId="{09DEF41D-1613-A83E-F5B6-F7774B72FADF}"/>
          </ac:spMkLst>
        </pc:spChg>
        <pc:spChg chg="mod">
          <ac:chgData name="akhilaparla@outlook.com" userId="842c385e226dec0c" providerId="LiveId" clId="{D7837BB3-8774-4BB9-93E7-12A32861A120}" dt="2026-07-23T17:17:59.050" v="44" actId="1076"/>
          <ac:spMkLst>
            <pc:docMk/>
            <pc:sldMk cId="746304241" sldId="265"/>
            <ac:spMk id="9" creationId="{6F5772CD-5FBB-C9B6-3BF2-157CC5AB463D}"/>
          </ac:spMkLst>
        </pc:spChg>
        <pc:spChg chg="mod">
          <ac:chgData name="akhilaparla@outlook.com" userId="842c385e226dec0c" providerId="LiveId" clId="{D7837BB3-8774-4BB9-93E7-12A32861A120}" dt="2026-07-23T17:17:51.850" v="43" actId="1076"/>
          <ac:spMkLst>
            <pc:docMk/>
            <pc:sldMk cId="746304241" sldId="265"/>
            <ac:spMk id="10" creationId="{3810E973-148D-2DA3-0435-D9D83F5D8CA9}"/>
          </ac:spMkLst>
        </pc:spChg>
        <pc:spChg chg="mod">
          <ac:chgData name="akhilaparla@outlook.com" userId="842c385e226dec0c" providerId="LiveId" clId="{D7837BB3-8774-4BB9-93E7-12A32861A120}" dt="2026-07-23T17:18:06.671" v="45" actId="1076"/>
          <ac:spMkLst>
            <pc:docMk/>
            <pc:sldMk cId="746304241" sldId="265"/>
            <ac:spMk id="11" creationId="{3A6E23A5-D53A-B115-91A5-C02789DA4405}"/>
          </ac:spMkLst>
        </pc:spChg>
        <pc:spChg chg="mod">
          <ac:chgData name="akhilaparla@outlook.com" userId="842c385e226dec0c" providerId="LiveId" clId="{D7837BB3-8774-4BB9-93E7-12A32861A120}" dt="2026-07-23T17:18:18.474" v="46" actId="1076"/>
          <ac:spMkLst>
            <pc:docMk/>
            <pc:sldMk cId="746304241" sldId="265"/>
            <ac:spMk id="12" creationId="{38337180-F50D-B4C6-EF35-9A0E10186639}"/>
          </ac:spMkLst>
        </pc:spChg>
        <pc:spChg chg="mod">
          <ac:chgData name="akhilaparla@outlook.com" userId="842c385e226dec0c" providerId="LiveId" clId="{D7837BB3-8774-4BB9-93E7-12A32861A120}" dt="2026-07-23T17:18:23.095" v="47" actId="1076"/>
          <ac:spMkLst>
            <pc:docMk/>
            <pc:sldMk cId="746304241" sldId="265"/>
            <ac:spMk id="13" creationId="{5E3F231E-BFC1-1481-A341-1B0359D87760}"/>
          </ac:spMkLst>
        </pc:spChg>
        <pc:spChg chg="mod">
          <ac:chgData name="akhilaparla@outlook.com" userId="842c385e226dec0c" providerId="LiveId" clId="{D7837BB3-8774-4BB9-93E7-12A32861A120}" dt="2026-07-23T17:18:32.964" v="48" actId="1076"/>
          <ac:spMkLst>
            <pc:docMk/>
            <pc:sldMk cId="746304241" sldId="265"/>
            <ac:spMk id="14" creationId="{CEDE68BD-C8B0-EBC7-7FF8-6AE01E654948}"/>
          </ac:spMkLst>
        </pc:spChg>
        <pc:spChg chg="add mod">
          <ac:chgData name="akhilaparla@outlook.com" userId="842c385e226dec0c" providerId="LiveId" clId="{D7837BB3-8774-4BB9-93E7-12A32861A120}" dt="2026-07-24T05:53:35.395" v="697" actId="113"/>
          <ac:spMkLst>
            <pc:docMk/>
            <pc:sldMk cId="746304241" sldId="265"/>
            <ac:spMk id="15" creationId="{21C17388-24F6-692B-E41D-1E6D49D717DD}"/>
          </ac:spMkLst>
        </pc:spChg>
        <pc:spChg chg="del">
          <ac:chgData name="akhilaparla@outlook.com" userId="842c385e226dec0c" providerId="LiveId" clId="{D7837BB3-8774-4BB9-93E7-12A32861A120}" dt="2026-07-23T17:10:08.389" v="11" actId="478"/>
          <ac:spMkLst>
            <pc:docMk/>
            <pc:sldMk cId="746304241" sldId="265"/>
            <ac:spMk id="15" creationId="{90407C04-1044-3D1E-134D-2D512DCB1AF3}"/>
          </ac:spMkLst>
        </pc:spChg>
        <pc:spChg chg="add del mod">
          <ac:chgData name="akhilaparla@outlook.com" userId="842c385e226dec0c" providerId="LiveId" clId="{D7837BB3-8774-4BB9-93E7-12A32861A120}" dt="2026-07-23T17:20:53.487" v="501" actId="478"/>
          <ac:spMkLst>
            <pc:docMk/>
            <pc:sldMk cId="746304241" sldId="265"/>
            <ac:spMk id="16" creationId="{874D3927-F495-1817-348B-2E235546E9AB}"/>
          </ac:spMkLst>
        </pc:spChg>
      </pc:sldChg>
      <pc:sldChg chg="addSp modSp new mod">
        <pc:chgData name="akhilaparla@outlook.com" userId="842c385e226dec0c" providerId="LiveId" clId="{D7837BB3-8774-4BB9-93E7-12A32861A120}" dt="2026-07-23T17:26:41.837" v="514" actId="1076"/>
        <pc:sldMkLst>
          <pc:docMk/>
          <pc:sldMk cId="859019006" sldId="266"/>
        </pc:sldMkLst>
        <pc:picChg chg="add mod">
          <ac:chgData name="akhilaparla@outlook.com" userId="842c385e226dec0c" providerId="LiveId" clId="{D7837BB3-8774-4BB9-93E7-12A32861A120}" dt="2026-07-23T17:26:41.837" v="514" actId="1076"/>
          <ac:picMkLst>
            <pc:docMk/>
            <pc:sldMk cId="859019006" sldId="266"/>
            <ac:picMk id="2" creationId="{D681C7E2-D448-BAD8-8957-930EC9B9559A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CCD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B2F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Noise
Performance</c:v>
                </c:pt>
                <c:pt idx="1">
                  <c:v>Dynamic
Range</c:v>
                </c:pt>
                <c:pt idx="2">
                  <c:v>Readout
Speed</c:v>
                </c:pt>
                <c:pt idx="3">
                  <c:v>Power
Efficiency</c:v>
                </c:pt>
                <c:pt idx="4">
                  <c:v>Fill
Factor</c:v>
                </c:pt>
                <c:pt idx="5">
                  <c:v>Manufacturing
Cost Efficiency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</c:v>
                </c:pt>
                <c:pt idx="1">
                  <c:v>9</c:v>
                </c:pt>
                <c:pt idx="2">
                  <c:v>4</c:v>
                </c:pt>
                <c:pt idx="3">
                  <c:v>3</c:v>
                </c:pt>
                <c:pt idx="4">
                  <c:v>9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17-406F-BAF0-B20C2CBD3BA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CMOS</c:v>
                </c:pt>
              </c:strCache>
            </c:strRef>
          </c:tx>
          <c:spPr>
            <a:solidFill>
              <a:srgbClr val="E67E22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B2F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Noise
Performance</c:v>
                </c:pt>
                <c:pt idx="1">
                  <c:v>Dynamic
Range</c:v>
                </c:pt>
                <c:pt idx="2">
                  <c:v>Readout
Speed</c:v>
                </c:pt>
                <c:pt idx="3">
                  <c:v>Power
Efficiency</c:v>
                </c:pt>
                <c:pt idx="4">
                  <c:v>Fill
Factor</c:v>
                </c:pt>
                <c:pt idx="5">
                  <c:v>Manufacturing
Cost Efficiency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6.5</c:v>
                </c:pt>
                <c:pt idx="1">
                  <c:v>7</c:v>
                </c:pt>
                <c:pt idx="2">
                  <c:v>9</c:v>
                </c:pt>
                <c:pt idx="3">
                  <c:v>9</c:v>
                </c:pt>
                <c:pt idx="4">
                  <c:v>6</c:v>
                </c:pt>
                <c:pt idx="5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A17-406F-BAF0-B20C2CBD3BA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B2F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2B2F3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7950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C645A-2D5B-C29F-771C-271E569F8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B3CB11-9486-3B62-6BD4-79B2E7C619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E08CEB-04EE-48A8-514E-F2DA7E5B72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7B2264-09C3-B062-F5B4-0B45841658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9656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C9AA6E34-C2F0-43F9-954C-52899C7ED895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8FE10BDE-AF6A-473A-AFB4-1F6FCB6C22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53215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A6E34-C2F0-43F9-954C-52899C7ED895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10BDE-AF6A-473A-AFB4-1F6FCB6C22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549855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A6E34-C2F0-43F9-954C-52899C7ED895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10BDE-AF6A-473A-AFB4-1F6FCB6C22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605360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A6E34-C2F0-43F9-954C-52899C7ED895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10BDE-AF6A-473A-AFB4-1F6FCB6C22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778160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A6E34-C2F0-43F9-954C-52899C7ED895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10BDE-AF6A-473A-AFB4-1F6FCB6C22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591987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A6E34-C2F0-43F9-954C-52899C7ED895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10BDE-AF6A-473A-AFB4-1F6FCB6C22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648696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A6E34-C2F0-43F9-954C-52899C7ED895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10BDE-AF6A-473A-AFB4-1F6FCB6C22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939431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A6E34-C2F0-43F9-954C-52899C7ED895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10BDE-AF6A-473A-AFB4-1F6FCB6C22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299232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A6E34-C2F0-43F9-954C-52899C7ED895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10BDE-AF6A-473A-AFB4-1F6FCB6C22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640454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A6E34-C2F0-43F9-954C-52899C7ED895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10BDE-AF6A-473A-AFB4-1F6FCB6C22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514187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A6E34-C2F0-43F9-954C-52899C7ED895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10BDE-AF6A-473A-AFB4-1F6FCB6C22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744568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A6E34-C2F0-43F9-954C-52899C7ED895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10BDE-AF6A-473A-AFB4-1F6FCB6C22C3}" type="slidenum">
              <a:rPr lang="en-IN" smtClean="0"/>
              <a:t>‹#›</a:t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4571620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A6E34-C2F0-43F9-954C-52899C7ED895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10BDE-AF6A-473A-AFB4-1F6FCB6C22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590203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A6E34-C2F0-43F9-954C-52899C7ED895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10BDE-AF6A-473A-AFB4-1F6FCB6C22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839088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A6E34-C2F0-43F9-954C-52899C7ED895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10BDE-AF6A-473A-AFB4-1F6FCB6C22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206315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A6E34-C2F0-43F9-954C-52899C7ED895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10BDE-AF6A-473A-AFB4-1F6FCB6C22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622562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A6E34-C2F0-43F9-954C-52899C7ED895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10BDE-AF6A-473A-AFB4-1F6FCB6C22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5076204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4796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AA6E34-C2F0-43F9-954C-52899C7ED895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E10BDE-AF6A-473A-AFB4-1F6FCB6C22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593385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81" r:id="rId1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027AB-449A-CBB1-A1BA-6B1C3ABEB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C837722-E5DC-F70F-DA96-D0A53BF62D68}"/>
              </a:ext>
            </a:extLst>
          </p:cNvPr>
          <p:cNvSpPr/>
          <p:nvPr/>
        </p:nvSpPr>
        <p:spPr>
          <a:xfrm>
            <a:off x="9692640" y="548640"/>
            <a:ext cx="82296" cy="82296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F2131B9-7489-69C3-DE32-BAEA9A70AC37}"/>
              </a:ext>
            </a:extLst>
          </p:cNvPr>
          <p:cNvSpPr/>
          <p:nvPr/>
        </p:nvSpPr>
        <p:spPr>
          <a:xfrm>
            <a:off x="10195560" y="548640"/>
            <a:ext cx="82296" cy="82296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FD253BF-A2EC-5944-203F-966CEBE520AE}"/>
              </a:ext>
            </a:extLst>
          </p:cNvPr>
          <p:cNvSpPr/>
          <p:nvPr/>
        </p:nvSpPr>
        <p:spPr>
          <a:xfrm>
            <a:off x="10698480" y="548640"/>
            <a:ext cx="82296" cy="82296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66D60E9-AA4C-9158-72E0-236003B54E59}"/>
              </a:ext>
            </a:extLst>
          </p:cNvPr>
          <p:cNvSpPr/>
          <p:nvPr/>
        </p:nvSpPr>
        <p:spPr>
          <a:xfrm>
            <a:off x="9692640" y="1051560"/>
            <a:ext cx="82296" cy="82296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CC4BFB2-FB00-8289-E259-12DC9E9F865F}"/>
              </a:ext>
            </a:extLst>
          </p:cNvPr>
          <p:cNvSpPr/>
          <p:nvPr/>
        </p:nvSpPr>
        <p:spPr>
          <a:xfrm>
            <a:off x="10195560" y="1051560"/>
            <a:ext cx="82296" cy="82296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BD89B7A-D449-2E48-820C-9090F61EBCC0}"/>
              </a:ext>
            </a:extLst>
          </p:cNvPr>
          <p:cNvSpPr/>
          <p:nvPr/>
        </p:nvSpPr>
        <p:spPr>
          <a:xfrm>
            <a:off x="10698480" y="1051560"/>
            <a:ext cx="82296" cy="82296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9DEF41D-1613-A83E-F5B6-F7774B72FADF}"/>
              </a:ext>
            </a:extLst>
          </p:cNvPr>
          <p:cNvSpPr/>
          <p:nvPr/>
        </p:nvSpPr>
        <p:spPr>
          <a:xfrm>
            <a:off x="4072813" y="950976"/>
            <a:ext cx="41459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67E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IMAGE SENSOR ENGINEERING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F5772CD-5FBB-C9B6-3BF2-157CC5AB463D}"/>
              </a:ext>
            </a:extLst>
          </p:cNvPr>
          <p:cNvSpPr/>
          <p:nvPr/>
        </p:nvSpPr>
        <p:spPr>
          <a:xfrm>
            <a:off x="3029587" y="1244704"/>
            <a:ext cx="61106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CCD vs CMOS Sensors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810E973-148D-2DA3-0435-D9D83F5D8CA9}"/>
              </a:ext>
            </a:extLst>
          </p:cNvPr>
          <p:cNvSpPr/>
          <p:nvPr/>
        </p:nvSpPr>
        <p:spPr>
          <a:xfrm>
            <a:off x="1933085" y="2361391"/>
            <a:ext cx="830362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Technical Comparison of Architecture, Performance, and Engineering Trade-offs</a:t>
            </a:r>
            <a:endParaRPr lang="en-US" b="1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A6E23A5-D53A-B115-91A5-C02789DA4405}"/>
              </a:ext>
            </a:extLst>
          </p:cNvPr>
          <p:cNvSpPr/>
          <p:nvPr/>
        </p:nvSpPr>
        <p:spPr>
          <a:xfrm>
            <a:off x="3820886" y="3321511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8337180-F50D-B4C6-EF35-9A0E10186639}"/>
              </a:ext>
            </a:extLst>
          </p:cNvPr>
          <p:cNvSpPr/>
          <p:nvPr/>
        </p:nvSpPr>
        <p:spPr>
          <a:xfrm>
            <a:off x="3748108" y="33375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CCD</a:t>
            </a:r>
            <a:endParaRPr lang="en-US" sz="15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E3F231E-BFC1-1481-A341-1B0359D87760}"/>
              </a:ext>
            </a:extLst>
          </p:cNvPr>
          <p:cNvSpPr/>
          <p:nvPr/>
        </p:nvSpPr>
        <p:spPr>
          <a:xfrm>
            <a:off x="6239380" y="3311434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/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EDE68BD-C8B0-EBC7-7FF8-6AE01E654948}"/>
              </a:ext>
            </a:extLst>
          </p:cNvPr>
          <p:cNvSpPr/>
          <p:nvPr/>
        </p:nvSpPr>
        <p:spPr>
          <a:xfrm>
            <a:off x="6239380" y="33375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CMOS</a:t>
            </a:r>
            <a:endParaRPr lang="en-US" sz="15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C17388-24F6-692B-E41D-1E6D49D717DD}"/>
              </a:ext>
            </a:extLst>
          </p:cNvPr>
          <p:cNvSpPr txBox="1"/>
          <p:nvPr/>
        </p:nvSpPr>
        <p:spPr>
          <a:xfrm>
            <a:off x="8413555" y="4303108"/>
            <a:ext cx="255069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Akhila [192472320]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Priyanga [192511102]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Akhila [192425225]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Ruchitha [192472299]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Thanuja [192425356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Varsha [192572177]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6304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074920" cy="1325880"/>
          </a:xfrm>
          <a:prstGeom prst="roundRect">
            <a:avLst>
              <a:gd name="adj" fmla="val 4138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7373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C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417320" y="1728216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Fundamentals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205740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photons become a digital image in both technologies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852160" y="1600200"/>
            <a:ext cx="5074920" cy="1325880"/>
          </a:xfrm>
          <a:prstGeom prst="roundRect">
            <a:avLst>
              <a:gd name="adj" fmla="val 4138"/>
            </a:avLst>
          </a:prstGeom>
          <a:solidFill>
            <a:srgbClr val="F4F6FB"/>
          </a:solidFill>
          <a:ln/>
        </p:spPr>
      </p:sp>
      <p:sp>
        <p:nvSpPr>
          <p:cNvPr id="9" name="Text 7"/>
          <p:cNvSpPr/>
          <p:nvPr/>
        </p:nvSpPr>
        <p:spPr>
          <a:xfrm>
            <a:off x="6080760" y="17373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C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812280" y="1728216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Signal Path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12280" y="205740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transfer vs. active pixel readout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5074920" cy="1325880"/>
          </a:xfrm>
          <a:prstGeom prst="roundRect">
            <a:avLst>
              <a:gd name="adj" fmla="val 4138"/>
            </a:avLst>
          </a:prstGeom>
          <a:solidFill>
            <a:srgbClr val="F4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3375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C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417320" y="3328416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Parameter Comparison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365760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Noise, dynamic range, speed, power, cost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52160" y="3200400"/>
            <a:ext cx="5074920" cy="1325880"/>
          </a:xfrm>
          <a:prstGeom prst="roundRect">
            <a:avLst>
              <a:gd name="adj" fmla="val 4138"/>
            </a:avLst>
          </a:prstGeom>
          <a:solidFill>
            <a:srgbClr val="F4F6FB"/>
          </a:solidFill>
          <a:ln/>
        </p:spPr>
      </p:sp>
      <p:sp>
        <p:nvSpPr>
          <p:cNvPr id="17" name="Text 15"/>
          <p:cNvSpPr/>
          <p:nvPr/>
        </p:nvSpPr>
        <p:spPr>
          <a:xfrm>
            <a:off x="6080760" y="33375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C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812280" y="3328416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Benchmarks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12280" y="365760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trade-offs across key metrics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800600"/>
            <a:ext cx="5074920" cy="1325880"/>
          </a:xfrm>
          <a:prstGeom prst="roundRect">
            <a:avLst>
              <a:gd name="adj" fmla="val 4138"/>
            </a:avLst>
          </a:prstGeom>
          <a:solidFill>
            <a:srgbClr val="F4F6FB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9377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C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417320" y="4928616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Trade-offs &amp; Applications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17320" y="525780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each sensor architecture wins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852160" y="4800600"/>
            <a:ext cx="5074920" cy="1325880"/>
          </a:xfrm>
          <a:prstGeom prst="roundRect">
            <a:avLst>
              <a:gd name="adj" fmla="val 4138"/>
            </a:avLst>
          </a:prstGeom>
          <a:solidFill>
            <a:srgbClr val="F4F6FB"/>
          </a:solidFill>
          <a:ln/>
        </p:spPr>
      </p:sp>
      <p:sp>
        <p:nvSpPr>
          <p:cNvPr id="25" name="Text 23"/>
          <p:cNvSpPr/>
          <p:nvPr/>
        </p:nvSpPr>
        <p:spPr>
          <a:xfrm>
            <a:off x="6080760" y="49377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C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812280" y="4928616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Guidance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12280" y="525780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sensor type to system requirements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CCD vs CMOS Image Sensors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Shared Starting Point, A Different Path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technologies use silicon photodiodes to convert incoming photons into electrical charge. They diverge entirely in how that charge is measured and read out.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874520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187452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423160" y="2148840"/>
            <a:ext cx="256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679192" y="2148840"/>
            <a:ext cx="1874520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2679192" y="2148840"/>
            <a:ext cx="187452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53712" y="2148840"/>
            <a:ext cx="256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09744" y="2148840"/>
            <a:ext cx="1874520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809744" y="2148840"/>
            <a:ext cx="187452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→ Voltage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684264" y="2148840"/>
            <a:ext cx="256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940296" y="2148840"/>
            <a:ext cx="1874520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940296" y="2148840"/>
            <a:ext cx="187452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Amplification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Readout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814816" y="2148840"/>
            <a:ext cx="256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070848" y="2148840"/>
            <a:ext cx="1874520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9070848" y="2148840"/>
            <a:ext cx="187452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Digitization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(ADC)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3108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divergence begins →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520440"/>
            <a:ext cx="5257800" cy="2651760"/>
          </a:xfrm>
          <a:prstGeom prst="roundRect">
            <a:avLst>
              <a:gd name="adj" fmla="val 2759"/>
            </a:avLst>
          </a:prstGeom>
          <a:solidFill>
            <a:srgbClr val="F4F6FB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520440"/>
            <a:ext cx="109728" cy="2651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70332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CCD — Charge-Coupled Device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7240" y="4114800"/>
            <a:ext cx="42519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is physically shifted, pixel by pixel, through the silicon substrate to a single output node.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(or a few) high-precision amplifier converts charge to voltage for the entire array.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Analogous to a “bucket brigade” passing charge packets down a line.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035040" y="3520440"/>
            <a:ext cx="5257800" cy="2651760"/>
          </a:xfrm>
          <a:prstGeom prst="roundRect">
            <a:avLst>
              <a:gd name="adj" fmla="val 2759"/>
            </a:avLst>
          </a:prstGeom>
          <a:solidFill>
            <a:srgbClr val="F4F6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035040" y="3520440"/>
            <a:ext cx="109728" cy="26517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370332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CMOS — Active Pixel Sensor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355080" y="4114800"/>
            <a:ext cx="42519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pixel integrates its own amplifier (and often ADC), converting charge to voltage on-site.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 are addressed like memory cells — rows and columns selected electronically.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massively parallel, high-speed readout across the array.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CCD vs CMOS Image Sensors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CCD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CCD Signal Path: Sequential Charge Transfer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84048" cy="384048"/>
          </a:xfrm>
          <a:prstGeom prst="rect">
            <a:avLst/>
          </a:prstGeom>
          <a:solidFill>
            <a:srgbClr val="D7E7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1600200"/>
            <a:ext cx="384048" cy="384048"/>
          </a:xfrm>
          <a:prstGeom prst="rect">
            <a:avLst/>
          </a:prstGeom>
          <a:solidFill>
            <a:srgbClr val="D7E7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26464" y="1600200"/>
            <a:ext cx="384048" cy="384048"/>
          </a:xfrm>
          <a:prstGeom prst="rect">
            <a:avLst/>
          </a:prstGeom>
          <a:solidFill>
            <a:srgbClr val="D7E7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65376" y="1600200"/>
            <a:ext cx="384048" cy="384048"/>
          </a:xfrm>
          <a:prstGeom prst="rect">
            <a:avLst/>
          </a:prstGeom>
          <a:solidFill>
            <a:srgbClr val="D7E7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04288" y="1600200"/>
            <a:ext cx="384048" cy="384048"/>
          </a:xfrm>
          <a:prstGeom prst="rect">
            <a:avLst/>
          </a:prstGeom>
          <a:solidFill>
            <a:srgbClr val="D7E7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1600200"/>
            <a:ext cx="384048" cy="384048"/>
          </a:xfrm>
          <a:prstGeom prst="rect">
            <a:avLst/>
          </a:prstGeom>
          <a:solidFill>
            <a:srgbClr val="D7E7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039112"/>
            <a:ext cx="384048" cy="384048"/>
          </a:xfrm>
          <a:prstGeom prst="rect">
            <a:avLst/>
          </a:prstGeom>
          <a:solidFill>
            <a:srgbClr val="D7E7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7552" y="2039112"/>
            <a:ext cx="384048" cy="384048"/>
          </a:xfrm>
          <a:prstGeom prst="rect">
            <a:avLst/>
          </a:prstGeom>
          <a:solidFill>
            <a:srgbClr val="D7E7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26464" y="2039112"/>
            <a:ext cx="384048" cy="384048"/>
          </a:xfrm>
          <a:prstGeom prst="rect">
            <a:avLst/>
          </a:prstGeom>
          <a:solidFill>
            <a:srgbClr val="D7E7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65376" y="2039112"/>
            <a:ext cx="384048" cy="384048"/>
          </a:xfrm>
          <a:prstGeom prst="rect">
            <a:avLst/>
          </a:prstGeom>
          <a:solidFill>
            <a:srgbClr val="D7E7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04288" y="2039112"/>
            <a:ext cx="384048" cy="384048"/>
          </a:xfrm>
          <a:prstGeom prst="rect">
            <a:avLst/>
          </a:prstGeom>
          <a:solidFill>
            <a:srgbClr val="D7E7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0" y="2039112"/>
            <a:ext cx="384048" cy="384048"/>
          </a:xfrm>
          <a:prstGeom prst="rect">
            <a:avLst/>
          </a:prstGeom>
          <a:solidFill>
            <a:srgbClr val="D7E7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478024"/>
            <a:ext cx="384048" cy="384048"/>
          </a:xfrm>
          <a:prstGeom prst="rect">
            <a:avLst/>
          </a:prstGeom>
          <a:solidFill>
            <a:srgbClr val="D7E7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87552" y="2478024"/>
            <a:ext cx="384048" cy="384048"/>
          </a:xfrm>
          <a:prstGeom prst="rect">
            <a:avLst/>
          </a:prstGeom>
          <a:solidFill>
            <a:srgbClr val="D7E7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26464" y="2478024"/>
            <a:ext cx="384048" cy="384048"/>
          </a:xfrm>
          <a:prstGeom prst="rect">
            <a:avLst/>
          </a:prstGeom>
          <a:solidFill>
            <a:srgbClr val="D7E7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65376" y="2478024"/>
            <a:ext cx="384048" cy="384048"/>
          </a:xfrm>
          <a:prstGeom prst="rect">
            <a:avLst/>
          </a:prstGeom>
          <a:solidFill>
            <a:srgbClr val="D7E7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04288" y="2478024"/>
            <a:ext cx="384048" cy="384048"/>
          </a:xfrm>
          <a:prstGeom prst="rect">
            <a:avLst/>
          </a:prstGeom>
          <a:solidFill>
            <a:srgbClr val="D7E7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0" y="2478024"/>
            <a:ext cx="384048" cy="384048"/>
          </a:xfrm>
          <a:prstGeom prst="rect">
            <a:avLst/>
          </a:prstGeom>
          <a:solidFill>
            <a:srgbClr val="D7E7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2916936"/>
            <a:ext cx="384048" cy="384048"/>
          </a:xfrm>
          <a:prstGeom prst="rect">
            <a:avLst/>
          </a:prstGeom>
          <a:solidFill>
            <a:srgbClr val="D7E7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87552" y="2916936"/>
            <a:ext cx="384048" cy="384048"/>
          </a:xfrm>
          <a:prstGeom prst="rect">
            <a:avLst/>
          </a:prstGeom>
          <a:solidFill>
            <a:srgbClr val="D7E7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26464" y="2916936"/>
            <a:ext cx="384048" cy="384048"/>
          </a:xfrm>
          <a:prstGeom prst="rect">
            <a:avLst/>
          </a:prstGeom>
          <a:solidFill>
            <a:srgbClr val="D7E7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65376" y="2916936"/>
            <a:ext cx="384048" cy="384048"/>
          </a:xfrm>
          <a:prstGeom prst="rect">
            <a:avLst/>
          </a:prstGeom>
          <a:solidFill>
            <a:srgbClr val="D7E7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04288" y="2916936"/>
            <a:ext cx="384048" cy="384048"/>
          </a:xfrm>
          <a:prstGeom prst="rect">
            <a:avLst/>
          </a:prstGeom>
          <a:solidFill>
            <a:srgbClr val="D7E7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0" y="2916936"/>
            <a:ext cx="384048" cy="384048"/>
          </a:xfrm>
          <a:prstGeom prst="rect">
            <a:avLst/>
          </a:prstGeom>
          <a:solidFill>
            <a:srgbClr val="D7E7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3355848"/>
            <a:ext cx="384048" cy="384048"/>
          </a:xfrm>
          <a:prstGeom prst="rect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87552" y="3355848"/>
            <a:ext cx="384048" cy="384048"/>
          </a:xfrm>
          <a:prstGeom prst="rect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426464" y="3355848"/>
            <a:ext cx="384048" cy="384048"/>
          </a:xfrm>
          <a:prstGeom prst="rect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65376" y="3355848"/>
            <a:ext cx="384048" cy="384048"/>
          </a:xfrm>
          <a:prstGeom prst="rect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04288" y="3355848"/>
            <a:ext cx="384048" cy="384048"/>
          </a:xfrm>
          <a:prstGeom prst="rect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0" y="3355848"/>
            <a:ext cx="384048" cy="384048"/>
          </a:xfrm>
          <a:prstGeom prst="rect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1280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Photodiode array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410712" y="18745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shift registers move charge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down, row by row, into the horizontal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register (bottom row).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319272" y="3374136"/>
            <a:ext cx="457200" cy="338328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37" name="Shape 35"/>
          <p:cNvSpPr/>
          <p:nvPr/>
        </p:nvSpPr>
        <p:spPr>
          <a:xfrm>
            <a:off x="548640" y="429768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E4EEF1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4297680"/>
            <a:ext cx="16916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Register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240280" y="429768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2560320" y="429768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E4EEF1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60320" y="4297680"/>
            <a:ext cx="16916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Output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Amplifier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251960" y="429768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4572000" y="429768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E4EEF1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0" y="4297680"/>
            <a:ext cx="16916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Sampling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263640" y="429768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6583680" y="429768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83680" y="4297680"/>
            <a:ext cx="16916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57200" y="5349240"/>
            <a:ext cx="11247120" cy="13716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</p:spPr>
      </p:sp>
      <p:sp>
        <p:nvSpPr>
          <p:cNvPr id="49" name="Text 47"/>
          <p:cNvSpPr/>
          <p:nvPr/>
        </p:nvSpPr>
        <p:spPr>
          <a:xfrm>
            <a:off x="731520" y="5486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consequence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31520" y="5788152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pixel is read through the same amplifier → excellent pixel-to-pixel uniformity and low fixed-pattern noise.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transfer of the entire frame → slower readout and higher clocking power (multiple drive voltages, ~15–30V).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CCD vs CMOS Image Sensors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CMOS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CMOS Signal Path: Parallel Pixel-Level Readout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84048" cy="384048"/>
          </a:xfrm>
          <a:prstGeom prst="rect">
            <a:avLst/>
          </a:prstGeom>
          <a:solidFill>
            <a:srgbClr val="FBE4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856232"/>
            <a:ext cx="91440" cy="914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6" name="Shape 4"/>
          <p:cNvSpPr/>
          <p:nvPr/>
        </p:nvSpPr>
        <p:spPr>
          <a:xfrm>
            <a:off x="987552" y="1600200"/>
            <a:ext cx="384048" cy="384048"/>
          </a:xfrm>
          <a:prstGeom prst="rect">
            <a:avLst/>
          </a:prstGeom>
          <a:solidFill>
            <a:srgbClr val="FBE4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43584" y="1856232"/>
            <a:ext cx="91440" cy="914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8" name="Shape 6"/>
          <p:cNvSpPr/>
          <p:nvPr/>
        </p:nvSpPr>
        <p:spPr>
          <a:xfrm>
            <a:off x="1426464" y="1600200"/>
            <a:ext cx="384048" cy="384048"/>
          </a:xfrm>
          <a:prstGeom prst="rect">
            <a:avLst/>
          </a:prstGeom>
          <a:solidFill>
            <a:srgbClr val="FBE4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82496" y="1856232"/>
            <a:ext cx="91440" cy="914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0" name="Shape 8"/>
          <p:cNvSpPr/>
          <p:nvPr/>
        </p:nvSpPr>
        <p:spPr>
          <a:xfrm>
            <a:off x="1865376" y="1600200"/>
            <a:ext cx="384048" cy="384048"/>
          </a:xfrm>
          <a:prstGeom prst="rect">
            <a:avLst/>
          </a:prstGeom>
          <a:solidFill>
            <a:srgbClr val="FBE4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21408" y="1856232"/>
            <a:ext cx="91440" cy="914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2" name="Shape 10"/>
          <p:cNvSpPr/>
          <p:nvPr/>
        </p:nvSpPr>
        <p:spPr>
          <a:xfrm>
            <a:off x="2304288" y="1600200"/>
            <a:ext cx="384048" cy="384048"/>
          </a:xfrm>
          <a:prstGeom prst="rect">
            <a:avLst/>
          </a:prstGeom>
          <a:solidFill>
            <a:srgbClr val="FBE4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0" y="1856232"/>
            <a:ext cx="91440" cy="914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4" name="Shape 12"/>
          <p:cNvSpPr/>
          <p:nvPr/>
        </p:nvSpPr>
        <p:spPr>
          <a:xfrm>
            <a:off x="2743200" y="1600200"/>
            <a:ext cx="384048" cy="384048"/>
          </a:xfrm>
          <a:prstGeom prst="rect">
            <a:avLst/>
          </a:prstGeom>
          <a:solidFill>
            <a:srgbClr val="FBE4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99232" y="1856232"/>
            <a:ext cx="91440" cy="914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2039112"/>
            <a:ext cx="384048" cy="384048"/>
          </a:xfrm>
          <a:prstGeom prst="rect">
            <a:avLst/>
          </a:prstGeom>
          <a:solidFill>
            <a:srgbClr val="FBE4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2295144"/>
            <a:ext cx="91440" cy="914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8" name="Shape 16"/>
          <p:cNvSpPr/>
          <p:nvPr/>
        </p:nvSpPr>
        <p:spPr>
          <a:xfrm>
            <a:off x="987552" y="2039112"/>
            <a:ext cx="384048" cy="384048"/>
          </a:xfrm>
          <a:prstGeom prst="rect">
            <a:avLst/>
          </a:prstGeom>
          <a:solidFill>
            <a:srgbClr val="FBE4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43584" y="2295144"/>
            <a:ext cx="91440" cy="914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0" name="Shape 18"/>
          <p:cNvSpPr/>
          <p:nvPr/>
        </p:nvSpPr>
        <p:spPr>
          <a:xfrm>
            <a:off x="1426464" y="2039112"/>
            <a:ext cx="384048" cy="384048"/>
          </a:xfrm>
          <a:prstGeom prst="rect">
            <a:avLst/>
          </a:prstGeom>
          <a:solidFill>
            <a:srgbClr val="FBE4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82496" y="2295144"/>
            <a:ext cx="91440" cy="914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2" name="Shape 20"/>
          <p:cNvSpPr/>
          <p:nvPr/>
        </p:nvSpPr>
        <p:spPr>
          <a:xfrm>
            <a:off x="1865376" y="2039112"/>
            <a:ext cx="384048" cy="384048"/>
          </a:xfrm>
          <a:prstGeom prst="rect">
            <a:avLst/>
          </a:prstGeom>
          <a:solidFill>
            <a:srgbClr val="FBE4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21408" y="2295144"/>
            <a:ext cx="91440" cy="914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4" name="Shape 22"/>
          <p:cNvSpPr/>
          <p:nvPr/>
        </p:nvSpPr>
        <p:spPr>
          <a:xfrm>
            <a:off x="2304288" y="2039112"/>
            <a:ext cx="384048" cy="384048"/>
          </a:xfrm>
          <a:prstGeom prst="rect">
            <a:avLst/>
          </a:prstGeom>
          <a:solidFill>
            <a:srgbClr val="FBE4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0" y="2295144"/>
            <a:ext cx="91440" cy="914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6" name="Shape 24"/>
          <p:cNvSpPr/>
          <p:nvPr/>
        </p:nvSpPr>
        <p:spPr>
          <a:xfrm>
            <a:off x="2743200" y="2039112"/>
            <a:ext cx="384048" cy="384048"/>
          </a:xfrm>
          <a:prstGeom prst="rect">
            <a:avLst/>
          </a:prstGeom>
          <a:solidFill>
            <a:srgbClr val="FBE4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99232" y="2295144"/>
            <a:ext cx="91440" cy="914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2478024"/>
            <a:ext cx="384048" cy="384048"/>
          </a:xfrm>
          <a:prstGeom prst="rect">
            <a:avLst/>
          </a:prstGeom>
          <a:solidFill>
            <a:srgbClr val="FBE4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4672" y="2734056"/>
            <a:ext cx="91440" cy="914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0" name="Shape 28"/>
          <p:cNvSpPr/>
          <p:nvPr/>
        </p:nvSpPr>
        <p:spPr>
          <a:xfrm>
            <a:off x="987552" y="2478024"/>
            <a:ext cx="384048" cy="384048"/>
          </a:xfrm>
          <a:prstGeom prst="rect">
            <a:avLst/>
          </a:prstGeom>
          <a:solidFill>
            <a:srgbClr val="FBE4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43584" y="2734056"/>
            <a:ext cx="91440" cy="914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2" name="Shape 30"/>
          <p:cNvSpPr/>
          <p:nvPr/>
        </p:nvSpPr>
        <p:spPr>
          <a:xfrm>
            <a:off x="1426464" y="2478024"/>
            <a:ext cx="384048" cy="384048"/>
          </a:xfrm>
          <a:prstGeom prst="rect">
            <a:avLst/>
          </a:prstGeom>
          <a:solidFill>
            <a:srgbClr val="FBE4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682496" y="2734056"/>
            <a:ext cx="91440" cy="914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4" name="Shape 32"/>
          <p:cNvSpPr/>
          <p:nvPr/>
        </p:nvSpPr>
        <p:spPr>
          <a:xfrm>
            <a:off x="1865376" y="2478024"/>
            <a:ext cx="384048" cy="384048"/>
          </a:xfrm>
          <a:prstGeom prst="rect">
            <a:avLst/>
          </a:prstGeom>
          <a:solidFill>
            <a:srgbClr val="FBE4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121408" y="2734056"/>
            <a:ext cx="91440" cy="914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6" name="Shape 34"/>
          <p:cNvSpPr/>
          <p:nvPr/>
        </p:nvSpPr>
        <p:spPr>
          <a:xfrm>
            <a:off x="2304288" y="2478024"/>
            <a:ext cx="384048" cy="384048"/>
          </a:xfrm>
          <a:prstGeom prst="rect">
            <a:avLst/>
          </a:prstGeom>
          <a:solidFill>
            <a:srgbClr val="FBE4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560320" y="2734056"/>
            <a:ext cx="91440" cy="914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8" name="Shape 36"/>
          <p:cNvSpPr/>
          <p:nvPr/>
        </p:nvSpPr>
        <p:spPr>
          <a:xfrm>
            <a:off x="2743200" y="2478024"/>
            <a:ext cx="384048" cy="384048"/>
          </a:xfrm>
          <a:prstGeom prst="rect">
            <a:avLst/>
          </a:prstGeom>
          <a:solidFill>
            <a:srgbClr val="FBE4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999232" y="2734056"/>
            <a:ext cx="91440" cy="914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40" name="Shape 38"/>
          <p:cNvSpPr/>
          <p:nvPr/>
        </p:nvSpPr>
        <p:spPr>
          <a:xfrm>
            <a:off x="548640" y="2916936"/>
            <a:ext cx="384048" cy="384048"/>
          </a:xfrm>
          <a:prstGeom prst="rect">
            <a:avLst/>
          </a:prstGeom>
          <a:solidFill>
            <a:srgbClr val="FBE4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4672" y="3172968"/>
            <a:ext cx="91440" cy="914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42" name="Shape 40"/>
          <p:cNvSpPr/>
          <p:nvPr/>
        </p:nvSpPr>
        <p:spPr>
          <a:xfrm>
            <a:off x="987552" y="2916936"/>
            <a:ext cx="384048" cy="384048"/>
          </a:xfrm>
          <a:prstGeom prst="rect">
            <a:avLst/>
          </a:prstGeom>
          <a:solidFill>
            <a:srgbClr val="FBE4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243584" y="3172968"/>
            <a:ext cx="91440" cy="914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44" name="Shape 42"/>
          <p:cNvSpPr/>
          <p:nvPr/>
        </p:nvSpPr>
        <p:spPr>
          <a:xfrm>
            <a:off x="1426464" y="2916936"/>
            <a:ext cx="384048" cy="384048"/>
          </a:xfrm>
          <a:prstGeom prst="rect">
            <a:avLst/>
          </a:prstGeom>
          <a:solidFill>
            <a:srgbClr val="FBE4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682496" y="3172968"/>
            <a:ext cx="91440" cy="914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46" name="Shape 44"/>
          <p:cNvSpPr/>
          <p:nvPr/>
        </p:nvSpPr>
        <p:spPr>
          <a:xfrm>
            <a:off x="1865376" y="2916936"/>
            <a:ext cx="384048" cy="384048"/>
          </a:xfrm>
          <a:prstGeom prst="rect">
            <a:avLst/>
          </a:prstGeom>
          <a:solidFill>
            <a:srgbClr val="FBE4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121408" y="3172968"/>
            <a:ext cx="91440" cy="914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48" name="Shape 46"/>
          <p:cNvSpPr/>
          <p:nvPr/>
        </p:nvSpPr>
        <p:spPr>
          <a:xfrm>
            <a:off x="2304288" y="2916936"/>
            <a:ext cx="384048" cy="384048"/>
          </a:xfrm>
          <a:prstGeom prst="rect">
            <a:avLst/>
          </a:prstGeom>
          <a:solidFill>
            <a:srgbClr val="FBE4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560320" y="3172968"/>
            <a:ext cx="91440" cy="914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50" name="Shape 48"/>
          <p:cNvSpPr/>
          <p:nvPr/>
        </p:nvSpPr>
        <p:spPr>
          <a:xfrm>
            <a:off x="2743200" y="2916936"/>
            <a:ext cx="384048" cy="384048"/>
          </a:xfrm>
          <a:prstGeom prst="rect">
            <a:avLst/>
          </a:prstGeom>
          <a:solidFill>
            <a:srgbClr val="FBE4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999232" y="3172968"/>
            <a:ext cx="91440" cy="914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52" name="Shape 50"/>
          <p:cNvSpPr/>
          <p:nvPr/>
        </p:nvSpPr>
        <p:spPr>
          <a:xfrm>
            <a:off x="548640" y="3355848"/>
            <a:ext cx="384048" cy="384048"/>
          </a:xfrm>
          <a:prstGeom prst="rect">
            <a:avLst/>
          </a:prstGeom>
          <a:solidFill>
            <a:srgbClr val="FBE4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04672" y="3611880"/>
            <a:ext cx="91440" cy="914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54" name="Shape 52"/>
          <p:cNvSpPr/>
          <p:nvPr/>
        </p:nvSpPr>
        <p:spPr>
          <a:xfrm>
            <a:off x="987552" y="3355848"/>
            <a:ext cx="384048" cy="384048"/>
          </a:xfrm>
          <a:prstGeom prst="rect">
            <a:avLst/>
          </a:prstGeom>
          <a:solidFill>
            <a:srgbClr val="FBE4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243584" y="3611880"/>
            <a:ext cx="91440" cy="914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56" name="Shape 54"/>
          <p:cNvSpPr/>
          <p:nvPr/>
        </p:nvSpPr>
        <p:spPr>
          <a:xfrm>
            <a:off x="1426464" y="3355848"/>
            <a:ext cx="384048" cy="384048"/>
          </a:xfrm>
          <a:prstGeom prst="rect">
            <a:avLst/>
          </a:prstGeom>
          <a:solidFill>
            <a:srgbClr val="FBE4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682496" y="3611880"/>
            <a:ext cx="91440" cy="914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58" name="Shape 56"/>
          <p:cNvSpPr/>
          <p:nvPr/>
        </p:nvSpPr>
        <p:spPr>
          <a:xfrm>
            <a:off x="1865376" y="3355848"/>
            <a:ext cx="384048" cy="384048"/>
          </a:xfrm>
          <a:prstGeom prst="rect">
            <a:avLst/>
          </a:prstGeom>
          <a:solidFill>
            <a:srgbClr val="FBE4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121408" y="3611880"/>
            <a:ext cx="91440" cy="914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60" name="Shape 58"/>
          <p:cNvSpPr/>
          <p:nvPr/>
        </p:nvSpPr>
        <p:spPr>
          <a:xfrm>
            <a:off x="2304288" y="3355848"/>
            <a:ext cx="384048" cy="384048"/>
          </a:xfrm>
          <a:prstGeom prst="rect">
            <a:avLst/>
          </a:prstGeom>
          <a:solidFill>
            <a:srgbClr val="FBE4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560320" y="3611880"/>
            <a:ext cx="91440" cy="914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62" name="Shape 60"/>
          <p:cNvSpPr/>
          <p:nvPr/>
        </p:nvSpPr>
        <p:spPr>
          <a:xfrm>
            <a:off x="2743200" y="3355848"/>
            <a:ext cx="384048" cy="384048"/>
          </a:xfrm>
          <a:prstGeom prst="rect">
            <a:avLst/>
          </a:prstGeom>
          <a:solidFill>
            <a:srgbClr val="FBE4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999232" y="3611880"/>
            <a:ext cx="91440" cy="914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64" name="Text 62"/>
          <p:cNvSpPr/>
          <p:nvPr/>
        </p:nvSpPr>
        <p:spPr>
          <a:xfrm>
            <a:off x="54864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pixel = photodiode + amplifier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3410712" y="18745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and column decoders address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 electronically — no physical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transfer between pixels.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548640" y="429768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FCEFE0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48640" y="4297680"/>
            <a:ext cx="16916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/ Column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Decoders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2240280" y="429768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69" name="Shape 67"/>
          <p:cNvSpPr/>
          <p:nvPr/>
        </p:nvSpPr>
        <p:spPr>
          <a:xfrm>
            <a:off x="2560320" y="429768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FCEFE0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560320" y="4297680"/>
            <a:ext cx="16916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Per-Column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Bank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4251960" y="429768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72" name="Shape 70"/>
          <p:cNvSpPr/>
          <p:nvPr/>
        </p:nvSpPr>
        <p:spPr>
          <a:xfrm>
            <a:off x="4572000" y="429768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FCEFE0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572000" y="4297680"/>
            <a:ext cx="16916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Signal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6263640" y="429768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75" name="Shape 73"/>
          <p:cNvSpPr/>
          <p:nvPr/>
        </p:nvSpPr>
        <p:spPr>
          <a:xfrm>
            <a:off x="6583680" y="429768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583680" y="4297680"/>
            <a:ext cx="16916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457200" y="5349240"/>
            <a:ext cx="11247120" cy="13716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</p:spPr>
      </p:sp>
      <p:sp>
        <p:nvSpPr>
          <p:cNvPr id="78" name="Text 76"/>
          <p:cNvSpPr/>
          <p:nvPr/>
        </p:nvSpPr>
        <p:spPr>
          <a:xfrm>
            <a:off x="731520" y="5486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consequence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731520" y="5788152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Parallel, column-level ADCs → dramatically faster frame rates and much lower power (single low-voltage supply).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Per-pixel amplifier variation → higher fixed-pattern noise, mitigated by correlated double sampling (CDS).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CCD vs CMOS Image Sensors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Parameters, Side by Side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5087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709160" y="1508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75320" y="1508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CMOS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1124712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96596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Readout architecture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09160" y="196596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Serial, single output amplifier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8275320" y="196596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Parallel, per-pixel / per-column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457200" y="2368296"/>
            <a:ext cx="11247120" cy="402336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368296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readout speed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09160" y="2368296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(tens of fps, frame-limited)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8275320" y="2368296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(hundreds of fps achievable)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457200" y="2770632"/>
            <a:ext cx="1124712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77063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consumption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09160" y="277063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(multiple clock voltages)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8275320" y="277063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(single supply, ~1/3–1/10 of CCD)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457200" y="3172968"/>
            <a:ext cx="11247120" cy="402336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172968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/ dark noise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09160" y="317296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low, highly uniform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8275320" y="317296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Higher, improving with CDS designs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457200" y="3575304"/>
            <a:ext cx="1124712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3575304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range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09160" y="3575304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High, typically &gt;70 dB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8275320" y="3575304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Moderate–high, 60–75 dB (design-dependent)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457200" y="3977640"/>
            <a:ext cx="11247120" cy="402336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397764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factor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09160" y="397764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100% (front-illuminated)</a:t>
            </a:r>
            <a:endParaRPr lang="en-US" sz="1020" dirty="0"/>
          </a:p>
        </p:txBody>
      </p:sp>
      <p:sp>
        <p:nvSpPr>
          <p:cNvPr id="31" name="Text 29"/>
          <p:cNvSpPr/>
          <p:nvPr/>
        </p:nvSpPr>
        <p:spPr>
          <a:xfrm>
            <a:off x="8275320" y="397764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natively; recovered via microlenses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457200" y="4379976"/>
            <a:ext cx="1124712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594360" y="4379976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Blooming / smear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09160" y="4379976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Susceptible to charge overflow</a:t>
            </a:r>
            <a:endParaRPr lang="en-US" sz="1020" dirty="0"/>
          </a:p>
        </p:txBody>
      </p:sp>
      <p:sp>
        <p:nvSpPr>
          <p:cNvPr id="35" name="Text 33"/>
          <p:cNvSpPr/>
          <p:nvPr/>
        </p:nvSpPr>
        <p:spPr>
          <a:xfrm>
            <a:off x="8275320" y="4379976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— pixels reset independently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457200" y="4782312"/>
            <a:ext cx="11247120" cy="402336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7" name="Text 35"/>
          <p:cNvSpPr/>
          <p:nvPr/>
        </p:nvSpPr>
        <p:spPr>
          <a:xfrm>
            <a:off x="594360" y="478231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Shutter type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709160" y="478231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global shutter</a:t>
            </a:r>
            <a:endParaRPr lang="en-US" sz="1020" dirty="0"/>
          </a:p>
        </p:txBody>
      </p:sp>
      <p:sp>
        <p:nvSpPr>
          <p:cNvPr id="39" name="Text 37"/>
          <p:cNvSpPr/>
          <p:nvPr/>
        </p:nvSpPr>
        <p:spPr>
          <a:xfrm>
            <a:off x="8275320" y="478231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shutter common; global shutter costs area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457200" y="5184648"/>
            <a:ext cx="1124712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594360" y="5184648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Fabrication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709160" y="518464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Specialized, low-volume process</a:t>
            </a:r>
            <a:endParaRPr lang="en-US" sz="1020" dirty="0"/>
          </a:p>
        </p:txBody>
      </p:sp>
      <p:sp>
        <p:nvSpPr>
          <p:cNvPr id="43" name="Text 41"/>
          <p:cNvSpPr/>
          <p:nvPr/>
        </p:nvSpPr>
        <p:spPr>
          <a:xfrm>
            <a:off x="8275320" y="518464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CMOS fabs — high volume, low cost</a:t>
            </a:r>
            <a:endParaRPr lang="en-US" sz="1020" dirty="0"/>
          </a:p>
        </p:txBody>
      </p:sp>
      <p:sp>
        <p:nvSpPr>
          <p:cNvPr id="44" name="Shape 42"/>
          <p:cNvSpPr/>
          <p:nvPr/>
        </p:nvSpPr>
        <p:spPr>
          <a:xfrm>
            <a:off x="457200" y="5586984"/>
            <a:ext cx="11247120" cy="402336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45" name="Text 43"/>
          <p:cNvSpPr/>
          <p:nvPr/>
        </p:nvSpPr>
        <p:spPr>
          <a:xfrm>
            <a:off x="594360" y="5586984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On-chip integration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709160" y="5586984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only; external support ICs</a:t>
            </a:r>
            <a:endParaRPr lang="en-US" sz="1020" dirty="0"/>
          </a:p>
        </p:txBody>
      </p:sp>
      <p:sp>
        <p:nvSpPr>
          <p:cNvPr id="47" name="Text 45"/>
          <p:cNvSpPr/>
          <p:nvPr/>
        </p:nvSpPr>
        <p:spPr>
          <a:xfrm>
            <a:off x="8275320" y="5586984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ADC, timing, and logic integrated (SoC)</a:t>
            </a:r>
            <a:endParaRPr lang="en-US" sz="1020" dirty="0"/>
          </a:p>
        </p:txBody>
      </p:sp>
      <p:sp>
        <p:nvSpPr>
          <p:cNvPr id="48" name="Text 46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CCD vs CMOS Image Sensors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Relative Performance Across Key Metrics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index scores (0–10, higher is better) reflecting typical, design-dependent behavior — not fixed physical constants.</a:t>
            </a:r>
            <a:endParaRPr lang="en-US" sz="11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783080"/>
          <a:ext cx="1124712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CCD vs CMOS Image Sensors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&amp; APPLICATIONS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Each Architecture Wins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257800" cy="4709160"/>
          </a:xfrm>
          <a:prstGeom prst="roundRect">
            <a:avLst>
              <a:gd name="adj" fmla="val 1553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08760"/>
            <a:ext cx="525780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876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CCD — Precision over Speed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19456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 when: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2514600"/>
            <a:ext cx="4343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image quality and uniformity outweigh speed or power budget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 light levels demand minimal noise (astronomy, spectroscopy)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/ metrology imaging needs precise, repeatable pixel response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High-end machine vision and some medical imaging (X-ray, microscopy)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89320" y="1508760"/>
            <a:ext cx="5257800" cy="4709160"/>
          </a:xfrm>
          <a:prstGeom prst="roundRect">
            <a:avLst>
              <a:gd name="adj" fmla="val 1553"/>
            </a:avLst>
          </a:prstGeom>
          <a:solidFill>
            <a:srgbClr val="F4F6FB"/>
          </a:solidFill>
          <a:ln/>
        </p:spPr>
      </p:sp>
      <p:sp>
        <p:nvSpPr>
          <p:cNvPr id="10" name="Shape 8"/>
          <p:cNvSpPr/>
          <p:nvPr/>
        </p:nvSpPr>
        <p:spPr>
          <a:xfrm>
            <a:off x="5989320" y="1508760"/>
            <a:ext cx="5257800" cy="5029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1" name="Text 9"/>
          <p:cNvSpPr/>
          <p:nvPr/>
        </p:nvSpPr>
        <p:spPr>
          <a:xfrm>
            <a:off x="6172200" y="150876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CMOS — Speed, Power &amp; Integration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217920" y="219456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 when: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217920" y="2514600"/>
            <a:ext cx="4343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frame rates, low power, and compact system integration are priorities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Battery-powered or space-constrained devices (smartphones, wearables)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Real-time, high-speed capture is required (automotive, robotics, sports)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Cost-sensitive, high-volume production (consumer electronics, security)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CCD vs CMOS Image Sensors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Engineering Verdict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architecture is universally superior — the choice is a systems-engineering trade-off between image fidelity and speed / power / cost.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5257800" cy="3383280"/>
          </a:xfrm>
          <a:prstGeom prst="roundRect">
            <a:avLst>
              <a:gd name="adj" fmla="val 2162"/>
            </a:avLst>
          </a:prstGeom>
          <a:solidFill>
            <a:srgbClr val="27317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514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FD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CCD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for uncompromising image quality where power and speed are secondary.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3794760"/>
            <a:ext cx="4343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Superior noise &amp; uniformity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global shutter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power &amp; cost, slower readout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89320" y="2286000"/>
            <a:ext cx="5257800" cy="3383280"/>
          </a:xfrm>
          <a:prstGeom prst="roundRect">
            <a:avLst>
              <a:gd name="adj" fmla="val 2162"/>
            </a:avLst>
          </a:prstGeom>
          <a:solidFill>
            <a:srgbClr val="273175"/>
          </a:solidFill>
          <a:ln/>
        </p:spPr>
      </p:sp>
      <p:sp>
        <p:nvSpPr>
          <p:cNvPr id="10" name="Text 8"/>
          <p:cNvSpPr/>
          <p:nvPr/>
        </p:nvSpPr>
        <p:spPr>
          <a:xfrm>
            <a:off x="6263640" y="2514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C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CMOS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263640" y="306324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for speed, power efficiency, integration, and cost at scale.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263640" y="3794760"/>
            <a:ext cx="4343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speed, low power, on-chip SoC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Low-cost, high-volume fabrication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Historically higher noise; now closing the gap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CCD vs CMOS Image Sensors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ig Thank You Images – Browse 24,512 Stock Photos, Vectors, and Video |  Adobe Stock">
            <a:extLst>
              <a:ext uri="{FF2B5EF4-FFF2-40B4-BE49-F238E27FC236}">
                <a16:creationId xmlns:a16="http://schemas.microsoft.com/office/drawing/2014/main" id="{D681C7E2-D448-BAD8-8957-930EC9B95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865" y="1231641"/>
            <a:ext cx="9265298" cy="4497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0190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28</TotalTime>
  <Words>909</Words>
  <Application>Microsoft Office PowerPoint</Application>
  <PresentationFormat>Widescreen</PresentationFormat>
  <Paragraphs>181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Cambria</vt:lpstr>
      <vt:lpstr>Times New Roman</vt:lpstr>
      <vt:lpstr>Tw Cen MT</vt:lpstr>
      <vt:lpstr>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akhilaparla@outlook.com</cp:lastModifiedBy>
  <cp:revision>1</cp:revision>
  <dcterms:created xsi:type="dcterms:W3CDTF">2026-07-23T16:47:19Z</dcterms:created>
  <dcterms:modified xsi:type="dcterms:W3CDTF">2026-07-24T05:53:37Z</dcterms:modified>
</cp:coreProperties>
</file>